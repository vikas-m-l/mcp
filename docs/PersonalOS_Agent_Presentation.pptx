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0" y="-914400"/>
            <a:ext cx="5943600" cy="5943600"/>
          </a:xfrm>
          <a:prstGeom prst="roundRect">
            <a:avLst>
              <a:gd name="adj" fmla="val 99999"/>
            </a:avLst>
          </a:prstGeom>
          <a:solidFill>
            <a:srgbClr val="100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914400"/>
            <a:ext cx="2299716" cy="256032"/>
          </a:xfrm>
          <a:prstGeom prst="roundRect">
            <a:avLst>
              <a:gd name="adj" fmla="val 40000"/>
            </a:avLst>
          </a:prstGeom>
          <a:solidFill>
            <a:srgbClr val="9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" y="941832"/>
            <a:ext cx="22997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</a:rPr>
              <a:t>🏆  SOLARIS X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7772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A78BFA"/>
                </a:solidFill>
              </a:rPr>
              <a:t>PersonalOS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713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Autonomous AI that monitors your inbox, thinks, calls your phone,
and acts — with just your voice as the interface.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👁️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389120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3 Autonomous Agents  (Observer · Planner · Executor)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18304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718304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Voice approval via Twilio — fully working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4748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047488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Real Gmail + Google Calendar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76672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376672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ChromaDB memory · MCP protocol · Redis queues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914400"/>
            <a:ext cx="3383280" cy="5303520"/>
          </a:xfrm>
          <a:prstGeom prst="roundRect">
            <a:avLst>
              <a:gd name="adj" fmla="val 20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1051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</a:rPr>
              <a:t>TECH STACK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32520" y="1417320"/>
            <a:ext cx="2926080" cy="274320"/>
          </a:xfrm>
          <a:prstGeom prst="roundRect">
            <a:avLst>
              <a:gd name="adj" fmla="val 15000"/>
            </a:avLst>
          </a:prstGeom>
          <a:solidFill>
            <a:srgbClr val="06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1453896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B82F6"/>
                </a:solidFill>
              </a:rPr>
              <a:t>Python 3.11 · asyncio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520" y="1764792"/>
            <a:ext cx="2926080" cy="274320"/>
          </a:xfrm>
          <a:prstGeom prst="roundRect">
            <a:avLst>
              <a:gd name="adj" fmla="val 15000"/>
            </a:avLst>
          </a:prstGeom>
          <a:solidFill>
            <a:srgbClr val="06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23960" y="1801368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0B981"/>
                </a:solidFill>
              </a:rPr>
              <a:t>FastAPI · WebSocket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12264"/>
            <a:ext cx="2926080" cy="274320"/>
          </a:xfrm>
          <a:prstGeom prst="roundRect">
            <a:avLst>
              <a:gd name="adj" fmla="val 15000"/>
            </a:avLst>
          </a:prstGeom>
          <a:solidFill>
            <a:srgbClr val="06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23960" y="2148840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59E0B"/>
                </a:solidFill>
              </a:rPr>
              <a:t>Redis · ChromaDB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32520" y="2459736"/>
            <a:ext cx="2926080" cy="274320"/>
          </a:xfrm>
          <a:prstGeom prst="roundRect">
            <a:avLst>
              <a:gd name="adj" fmla="val 15000"/>
            </a:avLst>
          </a:prstGeom>
          <a:solidFill>
            <a:srgbClr val="06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60" y="2496312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B5CF6"/>
                </a:solidFill>
              </a:rPr>
              <a:t>OpenRouter LLM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32520" y="2807208"/>
            <a:ext cx="2926080" cy="274320"/>
          </a:xfrm>
          <a:prstGeom prst="roundRect">
            <a:avLst>
              <a:gd name="adj" fmla="val 15000"/>
            </a:avLst>
          </a:prstGeom>
          <a:solidFill>
            <a:srgbClr val="06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23960" y="2843784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78BFA"/>
                </a:solidFill>
              </a:rPr>
              <a:t>MCP (Model Context Protocol)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32520" y="3154679"/>
            <a:ext cx="2926080" cy="274320"/>
          </a:xfrm>
          <a:prstGeom prst="roundRect">
            <a:avLst>
              <a:gd name="adj" fmla="val 15000"/>
            </a:avLst>
          </a:prstGeom>
          <a:solidFill>
            <a:srgbClr val="06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23960" y="3191256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F4444"/>
                </a:solidFill>
              </a:rPr>
              <a:t>Twilio Voice 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32520" y="3502151"/>
            <a:ext cx="2926080" cy="274320"/>
          </a:xfrm>
          <a:prstGeom prst="roundRect">
            <a:avLst>
              <a:gd name="adj" fmla="val 15000"/>
            </a:avLst>
          </a:prstGeom>
          <a:solidFill>
            <a:srgbClr val="06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23960" y="3538727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B82F6"/>
                </a:solidFill>
              </a:rPr>
              <a:t>Gmail API · Calendar API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32520" y="3849624"/>
            <a:ext cx="2926080" cy="274320"/>
          </a:xfrm>
          <a:prstGeom prst="roundRect">
            <a:avLst>
              <a:gd name="adj" fmla="val 15000"/>
            </a:avLst>
          </a:prstGeom>
          <a:solidFill>
            <a:srgbClr val="06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23960" y="3886200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OAuth 2.0 · pydantic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40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75569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Your inbox owns your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Every day you manually read emails, check your calendar, decide what to reply,
open apps, click buttons — for actions that should be automatic.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7772400" cy="420624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67712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28600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Urgent email at 2am — you miss it until morning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06624"/>
            <a:ext cx="7772400" cy="420624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79776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798064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Meeting request when your calendar is packed — you forget to reply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18688"/>
            <a:ext cx="7772400" cy="420624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310128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Same repetitive replies written over and over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30752"/>
            <a:ext cx="7772400" cy="420624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03904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822191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Deciding priority, urgency, action — mental overhead every single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42816"/>
            <a:ext cx="7772400" cy="420624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31596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334256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Notification overload — apps, banners, badges competing for attention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0" y="1645920"/>
            <a:ext cx="3200400" cy="4846320"/>
          </a:xfrm>
          <a:prstGeom prst="roundRect">
            <a:avLst>
              <a:gd name="adj" fmla="val 20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920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The average worker spends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3317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F4444"/>
                </a:solidFill>
              </a:rPr>
              <a:t>2.5 hrs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9718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per day on email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3429000"/>
            <a:ext cx="2286000" cy="9144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0" y="35661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59E0B"/>
                </a:solidFill>
              </a:rPr>
              <a:t>28%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42062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of the entire work week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40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75569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An AI that acts, not just advises.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618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PersonalOS Agent is a 3-agent autonomous pipeline that monitors your digital life 24/7,
reasons about what needs to happen, and calls your phone to confirm — then executes.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3429000" cy="2743200"/>
          </a:xfrm>
          <a:prstGeom prst="roundRect">
            <a:avLst>
              <a:gd name="adj" fmla="val 20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3429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2E8F0"/>
                </a:solidFill>
              </a:rPr>
              <a:t>👁️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Observer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906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The Eyes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01568"/>
            <a:ext cx="3108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Watches Gmail, Calendar,
Filesystem every 60s via MCP.
Deduplicates events in Redis.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2103120"/>
            <a:ext cx="3429000" cy="2743200"/>
          </a:xfrm>
          <a:prstGeom prst="roundRect">
            <a:avLst>
              <a:gd name="adj" fmla="val 20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2103120"/>
            <a:ext cx="34290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2E8F0"/>
                </a:solidFill>
              </a:rPr>
              <a:t>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69748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Planner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0906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</a:rPr>
              <a:t>The Brain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401568"/>
            <a:ext cx="3108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OpenRouter LLM produces
structured action plans with
confidence 0–100.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19" y="2103120"/>
            <a:ext cx="3429000" cy="2743200"/>
          </a:xfrm>
          <a:prstGeom prst="roundRect">
            <a:avLst>
              <a:gd name="adj" fmla="val 20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19" y="2103120"/>
            <a:ext cx="3429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2E8F0"/>
                </a:solidFill>
              </a:rPr>
              <a:t>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69748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Executor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30906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The Hands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3401568"/>
            <a:ext cx="3108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Routes by confidence:
auto-execute, voice approval,
or silent discard.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32004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75569"/>
                </a:solidFill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32004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75569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07492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120640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</a:rPr>
              <a:t>Redis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37667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Event queues, dedup, activity 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5120640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MCP Tool Server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537667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Gmail · Calendar · Filesystem 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5120640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</a:rPr>
              <a:t>ChromaDB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537667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Vector memory · self-improving preferences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5120640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Twilio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537667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Voice calls · speech recognition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40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75569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it all fits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874519" cy="1234440"/>
          </a:xfrm>
          <a:prstGeom prst="roundRect">
            <a:avLst>
              <a:gd name="adj" fmla="val 20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874519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39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Gmail / Calendar
Filesystem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8424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B82F6"/>
                </a:solidFill>
              </a:rPr>
              <a:t>Data
Sources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325880"/>
            <a:ext cx="1874519" cy="1234440"/>
          </a:xfrm>
          <a:prstGeom prst="roundRect">
            <a:avLst>
              <a:gd name="adj" fmla="val 20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51760" y="1325880"/>
            <a:ext cx="1874519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63039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Observer
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98424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5CF6"/>
                </a:solidFill>
              </a:rPr>
              <a:t>Poll &amp;
Normalize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00600" y="1325880"/>
            <a:ext cx="1874519" cy="1234440"/>
          </a:xfrm>
          <a:prstGeom prst="roundRect">
            <a:avLst>
              <a:gd name="adj" fmla="val 20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00600" y="1325880"/>
            <a:ext cx="1874519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1463039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Planner
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198424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5CF6"/>
                </a:solidFill>
              </a:rPr>
              <a:t>LLM
Reasoning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1325880"/>
            <a:ext cx="1874519" cy="1234440"/>
          </a:xfrm>
          <a:prstGeom prst="roundRect">
            <a:avLst>
              <a:gd name="adj" fmla="val 20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40" y="1325880"/>
            <a:ext cx="1874519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79" y="1463039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Executor
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79" y="198424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0B981"/>
                </a:solidFill>
              </a:rPr>
              <a:t>Route &amp;
Execute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1325880"/>
            <a:ext cx="1874519" cy="1234440"/>
          </a:xfrm>
          <a:prstGeom prst="roundRect">
            <a:avLst>
              <a:gd name="adj" fmla="val 20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1325880"/>
            <a:ext cx="1874519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19" y="1463039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MCP Tools
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19" y="198424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9E0B"/>
                </a:solidFill>
              </a:rPr>
              <a:t>Gmail · Cal
· Files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95728" y="17373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75569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17373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75569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3408" y="17373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75569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42248" y="17373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75569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2880360"/>
            <a:ext cx="6492240" cy="548640"/>
          </a:xfrm>
          <a:prstGeom prst="roundRect">
            <a:avLst>
              <a:gd name="adj" fmla="val 10000"/>
            </a:avLst>
          </a:prstGeom>
          <a:solidFill>
            <a:srgbClr val="120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51760" y="2880360"/>
            <a:ext cx="6492240" cy="27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34640" y="2944368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F4444"/>
                </a:solidFill>
              </a:rPr>
              <a:t>Redis Message Bus   ·   events:queue  ·  approvals:pending  ·  dashboard:pending  ·  activity_log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657600"/>
            <a:ext cx="2057400" cy="1188720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767328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8B5CF6"/>
                </a:solidFill>
              </a:rPr>
              <a:t>ChromaDB
Vector Memory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251960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Preferences +
approval history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3657600"/>
            <a:ext cx="2057400" cy="1188720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80360" y="3767328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3B82F6"/>
                </a:solidFill>
              </a:rPr>
              <a:t>FastAPI
Dashboard :8080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0360" y="4251960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WebSocket + REST
human approval UI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74920" y="3657600"/>
            <a:ext cx="2057400" cy="1188720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66359" y="3767328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0B981"/>
                </a:solidFill>
              </a:rPr>
              <a:t>Twilio
Voice API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59" y="4251960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Outbound calls
speech recognition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60920" y="3657600"/>
            <a:ext cx="2057400" cy="1188720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52360" y="3767328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59E0B"/>
                </a:solidFill>
              </a:rPr>
              <a:t>OpenRouter
LLM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2360" y="4251960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Any model:
GPT-4o · Claude · etc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46920" y="3657600"/>
            <a:ext cx="2057400" cy="1188720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38360" y="3767328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94A3B8"/>
                </a:solidFill>
              </a:rPr>
              <a:t>MCP / SSE
Protocol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38360" y="4251960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JSON-RPC tools
standardized interface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11880" y="34747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0720" y="34747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09560" y="34747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5029200"/>
            <a:ext cx="4572000" cy="685800"/>
          </a:xfrm>
          <a:prstGeom prst="roundRect">
            <a:avLst>
              <a:gd name="adj" fmla="val 10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507492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⚡  Two isolated event loops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5330952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Main loop: agents + dashboard  ·  MCP loop: daemon thread (port 8000)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03520" y="5029200"/>
            <a:ext cx="4572000" cy="685800"/>
          </a:xfrm>
          <a:prstGeom prst="roundRect">
            <a:avLst>
              <a:gd name="adj" fmla="val 10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0" y="507492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🔄  MCP reconnect per poll cycle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5330952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Avoids SSE post_writer drop — fresh session every 60 seconds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🎙️  THE WOW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Voice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A78BFA"/>
                </a:solidFill>
              </a:rPr>
              <a:t>No app. No buttons. Just talk.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37360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36576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B82F6"/>
                </a:solidFill>
              </a:rPr>
              <a:t>📧 Email arrives (70–89% confidence)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37360"/>
            <a:ext cx="36576" cy="4572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82880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Twilio POSTs SpeechResult to /api/twilio/speech/{id}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19456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31720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331720"/>
            <a:ext cx="36576" cy="4572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42316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Executor stores plan in Redis voice:plan:{id}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78892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331720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331720"/>
            <a:ext cx="36576" cy="457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42316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78BFA"/>
                </a:solidFill>
              </a:rPr>
              <a:t>LLM classifies → MODIFY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78892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926079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2926079"/>
            <a:ext cx="36576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01752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</a:rPr>
              <a:t>Twilio places outbound call to your phone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383279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926079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2926079"/>
            <a:ext cx="36576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301752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</a:rPr>
              <a:t>Voice instruction injected into email body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383279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520439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3520439"/>
            <a:ext cx="36576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3611879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You hear: "Requested action: send_email.
 Say yes, no, or modify…"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977639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3520439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3520439"/>
            <a:ext cx="36576" cy="4572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3611879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plan[approved_override] = True → re-queued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3977639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114800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4114800"/>
            <a:ext cx="36576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420624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9E0B"/>
                </a:solidFill>
              </a:rPr>
              <a:t>You say: "reply that I'll submit it by 6pm"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4114800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4114800"/>
            <a:ext cx="36576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19088" y="420624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</a:rPr>
              <a:t>✅ Email sent with your exact words. Goodbye!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452628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75569"/>
                </a:solidFill>
              </a:rPr>
              <a:t>INTENT CLASSIFIER — 4 STATES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828032"/>
            <a:ext cx="11430000" cy="54864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" y="4882896"/>
            <a:ext cx="2834640" cy="347472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" y="49377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"Yes / Go ahead / Sure"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55848" y="4882896"/>
            <a:ext cx="1280160" cy="347472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92424" y="49377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APPROVE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63440" y="4882896"/>
            <a:ext cx="3200400" cy="347472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27448" y="493776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Executes immediately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46120" y="4956048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4882896"/>
            <a:ext cx="2834640" cy="347472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6072" y="49377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"No / Cancel / Reject"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355848" y="4882896"/>
            <a:ext cx="1280160" cy="347472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92424" y="49377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444"/>
                </a:solidFill>
              </a:rPr>
              <a:t>REJECT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63440" y="4882896"/>
            <a:ext cx="3200400" cy="347472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27448" y="493776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Removed from dashboard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46120" y="4956048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4882896"/>
            <a:ext cx="2834640" cy="347472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76072" y="49377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"Modify … / Reply that … / But…"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355848" y="4882896"/>
            <a:ext cx="1280160" cy="347472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392424" y="49377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</a:rPr>
              <a:t>MODIFY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663440" y="4882896"/>
            <a:ext cx="3200400" cy="347472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27448" y="493776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Instruction injected into body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46120" y="4956048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→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2920" y="4882896"/>
            <a:ext cx="2834640" cy="347472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76072" y="49377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Mumble / Silence / Unclear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355848" y="4882896"/>
            <a:ext cx="1280160" cy="347472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392424" y="49377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75569"/>
                </a:solidFill>
              </a:rPr>
              <a:t>UNCLEAR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663440" y="4882896"/>
            <a:ext cx="3200400" cy="347472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727448" y="493776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Re-prompts you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46120" y="4956048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→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01000" y="4828032"/>
            <a:ext cx="3931920" cy="1645920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138160" y="4892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Safety features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38160" y="5193792"/>
            <a:ext cx="3703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• 10s speechTimeout — plenty of time to speak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38160" y="5422392"/>
            <a:ext cx="3703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• Word-boundary regex: 'no' ≠ 'know' / 'notify'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38160" y="5650992"/>
            <a:ext cx="3703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• MODIFY checked before REJECT (no false triggers)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38160" y="5879592"/>
            <a:ext cx="3703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• LLM fails → keyword fallback activates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138160" y="6108192"/>
            <a:ext cx="3703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• Crash in handler → graceful TwiML error reply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4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LIVE DEMO — VOICE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actually happened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0B981"/>
                </a:solidFill>
              </a:rPr>
              <a:t>Confirmed working — email received at vikas935314@gmail.com with voice instruction in body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6675120" cy="4389120"/>
          </a:xfrm>
          <a:prstGeom prst="roundRect">
            <a:avLst>
              <a:gd name="adj" fmla="val 15000"/>
            </a:avLst>
          </a:prstGeom>
          <a:solidFill>
            <a:srgbClr val="030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6675120" cy="292608"/>
          </a:xfrm>
          <a:prstGeom prst="roundRect">
            <a:avLst>
              <a:gd name="adj" fmla="val 15000"/>
            </a:avLst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627632"/>
            <a:ext cx="109728" cy="109728"/>
          </a:xfrm>
          <a:prstGeom prst="roundRect">
            <a:avLst>
              <a:gd name="adj" fmla="val 99999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627632"/>
            <a:ext cx="109728" cy="109728"/>
          </a:xfrm>
          <a:prstGeom prst="roundRect">
            <a:avLst>
              <a:gd name="adj" fmla="val 99999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61872" y="1627632"/>
            <a:ext cx="109728" cy="109728"/>
          </a:xfrm>
          <a:prstGeom prst="roundRect">
            <a:avLst>
              <a:gd name="adj" fmla="val 99999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965960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0B981"/>
                </a:solidFill>
              </a:rPr>
              <a:t>[Executor] Ready — voice approval: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185415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[Executor] DASHBOARD APPROVAL 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404872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  Action    : send_email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624328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  Confidence: 78%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843784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78BFA"/>
                </a:solidFill>
              </a:rPr>
              <a:t>[Executor] VOICE CALL dispatched — Plan: a3f9b2...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063240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282696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B82F6"/>
                </a:solidFill>
              </a:rPr>
              <a:t>[VoiceApproval] Speech received — plan=a3f9b2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502152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  speech='reply that I will submit it by 6pm today'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721608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941064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[VoiceApproval] LLM classified → MODIFY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160520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  instruction: 'I will submit it by 6pm today'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379976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  → injecting into action_args.body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599432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818888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0B981"/>
                </a:solidFill>
              </a:rPr>
              <a:t>[Executor] AUTO-EXECUTE: send_email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038344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0B981"/>
                </a:solidFill>
              </a:rPr>
              <a:t>  Result: {'message_id': '18f...', 'status': 'sent'}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257800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0B981"/>
                </a:solidFill>
              </a:rPr>
              <a:t>[VoiceApproval] voice_approved plan=a3f9b2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1554480"/>
            <a:ext cx="4572000" cy="4389120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06640" y="1554480"/>
            <a:ext cx="45720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0" y="16459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</a:rPr>
              <a:t>📧  EMAIL SENT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43800" y="1965960"/>
            <a:ext cx="4251960" cy="9144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0" y="205740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75569"/>
                </a:solidFill>
              </a:rPr>
              <a:t>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2057400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vikas935314@gmail.com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233172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75569"/>
                </a:solidFill>
              </a:rPr>
              <a:t>SUBJECT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2331720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PersonalOS Agent — Voice Approved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2606039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75569"/>
                </a:solidFill>
              </a:rPr>
              <a:t>STATUS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2606039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✓ Sent via Gmail API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43800" y="2834640"/>
            <a:ext cx="4251960" cy="9144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9520" y="2926080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75569"/>
                </a:solidFill>
              </a:rPr>
              <a:t>EMAIL BODY: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3200400"/>
            <a:ext cx="42519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</a:rPr>
              <a:t>Hi,
I will submit it by 6pm today,
please give me some more time
---
Sent via PersonalOS Agent
(voice approved)
Powered by SOLARIS 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06640" y="5669280"/>
            <a:ext cx="4572000" cy="201168"/>
          </a:xfrm>
          <a:prstGeom prst="roundRect">
            <a:avLst>
              <a:gd name="adj" fmla="val 10000"/>
            </a:avLst>
          </a:prstGeom>
          <a:solidFill>
            <a:srgbClr val="062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79" y="5687568"/>
            <a:ext cx="4389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0B981"/>
                </a:solidFill>
              </a:rPr>
              <a:t>⚡ Delivered in &lt; 3 seconds after spoken approval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4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NEW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Smart Meeting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Reads your calendar, detects conflicts, and auto-drafts the right reply — for every scenario.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5349240" cy="1078992"/>
          </a:xfrm>
          <a:prstGeom prst="roundRect">
            <a:avLst>
              <a:gd name="adj" fmla="val 12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534924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783080"/>
            <a:ext cx="256032" cy="256032"/>
          </a:xfrm>
          <a:prstGeom prst="roundRect">
            <a:avLst>
              <a:gd name="adj" fmla="val 99999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92224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783080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Direct conflict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075688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📧 "Can we meet tomorrow 3pm?"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295144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📅 3pm slot blocked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51460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F4444"/>
                </a:solidFill>
              </a:rPr>
              <a:t>✉️ "Already have something at 3pm. 5pm work?"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926080"/>
            <a:ext cx="5349240" cy="1078992"/>
          </a:xfrm>
          <a:prstGeom prst="roundRect">
            <a:avLst>
              <a:gd name="adj" fmla="val 12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926080"/>
            <a:ext cx="534924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017520"/>
            <a:ext cx="256032" cy="256032"/>
          </a:xfrm>
          <a:prstGeom prst="roundRect">
            <a:avLst>
              <a:gd name="adj" fmla="val 99999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026664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3017520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Full day packed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3310128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📧 "Free anytime Thursday?"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3529584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📅 All-day back-to-back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374904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F4444"/>
                </a:solidFill>
              </a:rPr>
              <a:t>✉️ "Thursday is fully packed. Friday 10am?"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160520"/>
            <a:ext cx="5349240" cy="1078992"/>
          </a:xfrm>
          <a:prstGeom prst="roundRect">
            <a:avLst>
              <a:gd name="adj" fmla="val 12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160520"/>
            <a:ext cx="53492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4251960"/>
            <a:ext cx="256032" cy="256032"/>
          </a:xfrm>
          <a:prstGeom prst="roundRect">
            <a:avLst>
              <a:gd name="adj" fmla="val 99999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261104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251960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Partial overlap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4544568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📧 "1hr call at 2pm Friday"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4764024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📅 2:30pm conflict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498348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✉️ "Conflict at 2:30. 1pm instead, or Monday?"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394960"/>
            <a:ext cx="5349240" cy="1078992"/>
          </a:xfrm>
          <a:prstGeom prst="roundRect">
            <a:avLst>
              <a:gd name="adj" fmla="val 12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5394960"/>
            <a:ext cx="53492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" y="5486400"/>
            <a:ext cx="256032" cy="256032"/>
          </a:xfrm>
          <a:prstGeom prst="roundRect">
            <a:avLst>
              <a:gd name="adj" fmla="val 99999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495544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" y="5486400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No time specified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" y="5779008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📧 "Catch up this week"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" y="5998464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📅 Wed PM + Fri AM free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" y="621792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0B981"/>
                </a:solidFill>
              </a:rPr>
              <a:t>✉️ "Free Wed after 3pm or Fri before noon"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1691640"/>
            <a:ext cx="5349240" cy="1078992"/>
          </a:xfrm>
          <a:prstGeom prst="roundRect">
            <a:avLst>
              <a:gd name="adj" fmla="val 12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80760" y="1691640"/>
            <a:ext cx="534924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72200" y="1783080"/>
            <a:ext cx="256032" cy="256032"/>
          </a:xfrm>
          <a:prstGeom prst="roundRect">
            <a:avLst>
              <a:gd name="adj" fmla="val 99999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72200" y="1792224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9672" y="1783080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Next day also busy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0488" y="2075688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📧 "Reschedule to tomorrow?"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90488" y="2295144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📅 Tomorrow blocked too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0488" y="251460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F4444"/>
                </a:solidFill>
              </a:rPr>
              <a:t>✉️ "Tomorrow also packed. Thursday 10am?"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80760" y="2926080"/>
            <a:ext cx="5349240" cy="1078992"/>
          </a:xfrm>
          <a:prstGeom prst="roundRect">
            <a:avLst>
              <a:gd name="adj" fmla="val 12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80760" y="2926080"/>
            <a:ext cx="53492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72200" y="3017520"/>
            <a:ext cx="256032" cy="256032"/>
          </a:xfrm>
          <a:prstGeom prst="roundRect">
            <a:avLst>
              <a:gd name="adj" fmla="val 99999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72200" y="3026664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19672" y="3017520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Recurring conflict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90488" y="3310128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📧 "Every Monday 2pm?"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90488" y="3529584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📅 Weekly Sync on Mon 2pm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90488" y="374904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✉️ "Mondays blocked. Tue or Wed same time?"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80760" y="4160520"/>
            <a:ext cx="5349240" cy="1078992"/>
          </a:xfrm>
          <a:prstGeom prst="roundRect">
            <a:avLst>
              <a:gd name="adj" fmla="val 12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080760" y="4160520"/>
            <a:ext cx="53492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172200" y="4251960"/>
            <a:ext cx="256032" cy="256032"/>
          </a:xfrm>
          <a:prstGeom prst="roundRect">
            <a:avLst>
              <a:gd name="adj" fmla="val 99999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72200" y="4261104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19672" y="4251960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Calendar is FREE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90488" y="4544568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📧 "Meet tomorrow at 11am?"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90488" y="4764024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📅 11am–12pm free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90488" y="498348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0B981"/>
                </a:solidFill>
              </a:rPr>
              <a:t>✉️ "Confirmed + calendar invite created!"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40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75569"/>
                </a:solidFill>
              </a:rPr>
              <a:t>INTELLIGENCE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LLM Planning + Decision Scoring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5669280" cy="1417320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56692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75569"/>
                </a:solidFill>
              </a:rPr>
              <a:t>DECISION SCORING FORMULA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190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adjusted = base × urgency_mult × history_mult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urgency_mult : 1.0 – 1.3  (+10% per urgency keyword, max +30%)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40864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history_mult : 0.9 – 1.1  (ChromaDB historical approval rate)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34640"/>
            <a:ext cx="5669280" cy="1508760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834640"/>
            <a:ext cx="56692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260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75569"/>
                </a:solidFill>
              </a:rPr>
              <a:t>CONFIDENCE ROUTING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246120"/>
            <a:ext cx="1188720" cy="310896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8269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&gt; 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93392" y="3291839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Auto-execute + Twilio notification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630168"/>
            <a:ext cx="1188720" cy="310896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66674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70 – 89%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93392" y="3675887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Voice approval call + dashboard pending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014215"/>
            <a:ext cx="1188720" cy="310896"/>
          </a:xfrm>
          <a:prstGeom prst="roundRect">
            <a:avLst>
              <a:gd name="adj" fmla="val 1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050791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&lt; 70%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93392" y="4059935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Silent discard (logged, learned from)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280160"/>
            <a:ext cx="5394960" cy="4892040"/>
          </a:xfrm>
          <a:prstGeom prst="roundRect">
            <a:avLst>
              <a:gd name="adj" fmla="val 15000"/>
            </a:avLst>
          </a:prstGeom>
          <a:solidFill>
            <a:srgbClr val="030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3898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75569"/>
                </a:solidFill>
              </a:rPr>
              <a:t>JSON PLAN SCHEMA  (LLM must follow exactly)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1719072"/>
            <a:ext cx="51206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{
  "action": "send_email",
  "confidence": 78,
  "priority": "high",
  "reason": "Professor asking for urgent reply",
  "requires_approval": true,
  "alternatives": [
    {"action": "no_action", "confidence": 20,
     "reason": "Wait and monitor"},
    {"action": "read_emails", "confidence": 45,
     "reason": "Fetch full thread first"}
  ],
  "explanation": "High urgency keywords detected.
    Historical approval rate: 0.85.
    Meeting context injected from calendar.",
  "action_args": {
    "to": "professor@university.edu",
    "subject": "Re: Assignment Deadline",
    "body": "Hi Professor, ..."
  }
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480560"/>
            <a:ext cx="5669280" cy="1691640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480560"/>
            <a:ext cx="56692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5720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75569"/>
                </a:solidFill>
              </a:rPr>
              <a:t>CHROMADB VECTOR MEMORY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86460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Self-improving over 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193792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Stores user preference statements as embeddings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422392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Semantically queried per event — personalises every plan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650992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Records approval/rejection outcomes per action type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879592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Adjusts history_mult: good history → higher confidence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4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HUMAN-IN-THE-LOOP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7315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Approval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FastAPI + WebSocket · Light/Dark theme · Real-time updates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2743200" cy="4434840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2743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6916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</a:rPr>
              <a:t>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17627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Email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57860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All email plans with priority badges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852927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Search by subject, sender,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127247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Filter: high / medium / pending / auto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401567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Approve / Reject per item or Bulk 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675887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Export CSV for records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1600200"/>
            <a:ext cx="2743200" cy="4434840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1600200"/>
            <a:ext cx="2743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16916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217627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8728" y="257860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Confidence distribution 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8728" y="2852927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Priority breakdown bar chart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8728" y="3127247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Response breakdown (auto/pending/rejected)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3401567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Auto-execute rate indicator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38728" y="3675887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Queue depth monitor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1600200"/>
            <a:ext cx="2743200" cy="4434840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1600200"/>
            <a:ext cx="2743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16916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</a:rPr>
              <a:t>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8" y="217627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Inject Event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8" y="257860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Push synthetic email / calendar event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8" y="2852927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No Google OAuth required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8" y="3127247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Mark as urgent — boosts confidence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8" y="3401567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Perfect for live hackathon demos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3675887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Flows through full pipeline in real time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81160" y="1600200"/>
            <a:ext cx="2743200" cy="4434840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81160" y="1600200"/>
            <a:ext cx="2743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90888" y="16916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</a:rPr>
              <a:t>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90888" y="217627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Preferences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90888" y="257860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View all ChromaDB user preferences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90888" y="2852927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Add natural-language statements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90888" y="3127247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e.g. 'Always reply within 2 hours'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90888" y="3401567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Semantically queried per planning event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90888" y="3675887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• Personalises every LLM decision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6172200"/>
            <a:ext cx="2743200" cy="502920"/>
          </a:xfrm>
          <a:prstGeom prst="roundRect">
            <a:avLst>
              <a:gd name="adj" fmla="val 10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" y="6217920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78BFA"/>
                </a:solidFill>
              </a:rPr>
              <a:t>⚡ WebSocket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641908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Real-time push — no polling needed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29000" y="6172200"/>
            <a:ext cx="2743200" cy="502920"/>
          </a:xfrm>
          <a:prstGeom prst="roundRect">
            <a:avLst>
              <a:gd name="adj" fmla="val 10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38728" y="6217920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78BFA"/>
                </a:solidFill>
              </a:rPr>
              <a:t>⌨️ Keyboard nav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38728" y="641908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A approve · R reject · ↑↓ navigate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55080" y="6172200"/>
            <a:ext cx="2743200" cy="502920"/>
          </a:xfrm>
          <a:prstGeom prst="roundRect">
            <a:avLst>
              <a:gd name="adj" fmla="val 10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64808" y="6217920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78BFA"/>
                </a:solidFill>
              </a:rPr>
              <a:t>📞 Test Call btn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64808" y="641908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Trigger Twilio demo from header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81160" y="6172200"/>
            <a:ext cx="2743200" cy="502920"/>
          </a:xfrm>
          <a:prstGeom prst="roundRect">
            <a:avLst>
              <a:gd name="adj" fmla="val 10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90888" y="6217920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78BFA"/>
                </a:solidFill>
              </a:rPr>
              <a:t>🌙/☀️ Theme toggle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90888" y="641908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Persisted in localStorage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4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Watch it work in 90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5394960" cy="1627632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41148" cy="16276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7512" y="1463039"/>
            <a:ext cx="384048" cy="384048"/>
          </a:xfrm>
          <a:prstGeom prst="roundRect">
            <a:avLst>
              <a:gd name="adj" fmla="val 99999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47218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9576" y="1463039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python main.py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920240"/>
            <a:ext cx="5074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All 3 agents + MCP server + dashboard start in ~3 seconds.
Health strip shows all services green.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108960"/>
            <a:ext cx="5394960" cy="1627632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41148" cy="16276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" y="3273552"/>
            <a:ext cx="384048" cy="384048"/>
          </a:xfrm>
          <a:prstGeom prst="roundRect">
            <a:avLst>
              <a:gd name="adj" fmla="val 99999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282696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9576" y="327355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Open localhost:8080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730752"/>
            <a:ext cx="5074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Dashboard loads. Health strip: Redis ✓, LLM ✓, Google ✓, Twilio ✓
Toggle dark/light theme to show polish.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919472"/>
            <a:ext cx="5394960" cy="1627632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919472"/>
            <a:ext cx="41148" cy="16276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" y="5084064"/>
            <a:ext cx="384048" cy="384048"/>
          </a:xfrm>
          <a:prstGeom prst="roundRect">
            <a:avLst>
              <a:gd name="adj" fmla="val 99999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509320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9576" y="5084064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Click 'Inject Event'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5541264"/>
            <a:ext cx="5074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From: professor@university.edu
Subject: Can we meet tomorrow at 3pm? — URGENT
Check 'Mark as urgent' → click Inject Event 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298448"/>
            <a:ext cx="5394960" cy="1627632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298448"/>
            <a:ext cx="41148" cy="16276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82512" y="1463039"/>
            <a:ext cx="384048" cy="384048"/>
          </a:xfrm>
          <a:prstGeom prst="roundRect">
            <a:avLst>
              <a:gd name="adj" fmla="val 99999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147218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463039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Watch the pipeline fire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1920240"/>
            <a:ext cx="5074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Activity feed: Observer detected → Planner reasoning → calendar checked
Email Intelligence tab updates live via WebSocket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108960"/>
            <a:ext cx="5394960" cy="1627632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108960"/>
            <a:ext cx="41148" cy="16276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82512" y="3273552"/>
            <a:ext cx="384048" cy="384048"/>
          </a:xfrm>
          <a:prstGeom prst="roundRect">
            <a:avLst>
              <a:gd name="adj" fmla="val 99999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2512" y="3282696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4576" y="327355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Phone rings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3730752"/>
            <a:ext cx="5074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Answer it. Hear the AI speak the action.
Say: 'Modify, reply that I'm free at 5pm instead'
Hear: 'Got it! Goodbye!'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919472"/>
            <a:ext cx="5394960" cy="1627632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4919472"/>
            <a:ext cx="41148" cy="16276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82512" y="5084064"/>
            <a:ext cx="384048" cy="384048"/>
          </a:xfrm>
          <a:prstGeom prst="roundRect">
            <a:avLst>
              <a:gd name="adj" fmla="val 99999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2512" y="509320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94576" y="5084064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Show the result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5541264"/>
            <a:ext cx="5074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Dashboard: 'VOICE MODIFIED+APPROVED' badge
Check Gmail — email sent with your exact spoken words in body.
Analytics tab shows confidence scores.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4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75569"/>
                </a:solidFill>
              </a:rPr>
              <a:t>TECHNICAL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MCP — Model Context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The same protocol Anthropic built into Claude. Agents call tools over SSE JSON-RPC — fully decoupled from any specific API implementation.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75569"/>
                </a:solidFill>
              </a:rPr>
              <a:t>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8288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75569"/>
                </a:solidFill>
              </a:rPr>
              <a:t>ARGUMENTS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18288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75569"/>
                </a:solidFill>
              </a:rPr>
              <a:t>RETURNS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84831"/>
            <a:ext cx="10515600" cy="18288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148840"/>
            <a:ext cx="10515600" cy="384048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2199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read_emails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22199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max_results, 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2219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List of Gmail messages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551176"/>
            <a:ext cx="10515600" cy="384048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624328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send_email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62432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to, subject, body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6243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{message_id, status}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953512"/>
            <a:ext cx="10515600" cy="384048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026664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read_calendar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026664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days_ahead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02666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List of Calendar events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355848"/>
            <a:ext cx="10515600" cy="384048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42900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create_event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4290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summary, start_datetime, end_datetime, ...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4290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{event_id, html_link}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758184"/>
            <a:ext cx="10515600" cy="384048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831336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list_files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383133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directory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383133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List of file metadata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160520"/>
            <a:ext cx="10515600" cy="384048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23367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move_file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23367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source, destination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42336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{source, dest, success}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754880"/>
            <a:ext cx="10515600" cy="1828800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846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75569"/>
                </a:solidFill>
              </a:rPr>
              <a:t>WHY MCP MATTERS FOR THIS PROJECT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1663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</a:rPr>
              <a:t>🔌 Swappable tools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51663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Swap Gmail → Outlook, or Google Cal → iCloud Cal without touching agent code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4864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</a:rPr>
              <a:t>🔒 Security boundary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548640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Agents never hold credentials — only MCP server does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8064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</a:rPr>
              <a:t>🔄 Retry isolation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34640" y="58064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Tool retries happen at BaseAgent layer — agents don't care about flaky network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612647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</a:rPr>
              <a:t>📊 Auditable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34640" y="6126479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Every tool call flows through one server — easy to log, monitor, and rate-limit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40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75569"/>
                </a:solidFill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18 production-grade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886200" cy="658368"/>
          </a:xfrm>
          <a:prstGeom prst="roundRect">
            <a:avLst>
              <a:gd name="adj" fmla="val 12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886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6245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3716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Real Gmail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645919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Unread poll, dedup across restarts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8264" y="1280160"/>
            <a:ext cx="3886200" cy="658368"/>
          </a:xfrm>
          <a:prstGeom prst="roundRect">
            <a:avLst>
              <a:gd name="adj" fmla="val 12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8264" y="1280160"/>
            <a:ext cx="3886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9703" y="136245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3716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Google Calendar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2" y="1645919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Read + create events, OAuth shared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9327" y="1280160"/>
            <a:ext cx="3886200" cy="658368"/>
          </a:xfrm>
          <a:prstGeom prst="roundRect">
            <a:avLst>
              <a:gd name="adj" fmla="val 12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39327" y="1280160"/>
            <a:ext cx="38862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7" y="136245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14815" y="13716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LLM action planning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14815" y="1645919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Any OpenRouter model, strict JSON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993391"/>
            <a:ext cx="3886200" cy="658368"/>
          </a:xfrm>
          <a:prstGeom prst="roundRect">
            <a:avLst>
              <a:gd name="adj" fmla="val 12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1993391"/>
            <a:ext cx="38862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075687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208483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Confidence routing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2359151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&gt;90 auto, 70–89 voice, &lt;70 discard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98264" y="1993391"/>
            <a:ext cx="3886200" cy="658368"/>
          </a:xfrm>
          <a:prstGeom prst="roundRect">
            <a:avLst>
              <a:gd name="adj" fmla="val 12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98264" y="1993391"/>
            <a:ext cx="38862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9703" y="2075687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3752" y="208483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Voice approval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3752" y="2359151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Full Twilio pipeline, 10s timeout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39327" y="1993391"/>
            <a:ext cx="3886200" cy="658368"/>
          </a:xfrm>
          <a:prstGeom prst="roundRect">
            <a:avLst>
              <a:gd name="adj" fmla="val 12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39327" y="1993391"/>
            <a:ext cx="38862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30767" y="2075687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✏️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14815" y="208483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Voice modification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14815" y="2359151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Spoken words injected into email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706624"/>
            <a:ext cx="3886200" cy="658368"/>
          </a:xfrm>
          <a:prstGeom prst="roundRect">
            <a:avLst>
              <a:gd name="adj" fmla="val 12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2706624"/>
            <a:ext cx="3886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278892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🗓️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279806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Meeting intelligence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3072384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7 conflict scenarios, free-slot AI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98264" y="2706624"/>
            <a:ext cx="3886200" cy="658368"/>
          </a:xfrm>
          <a:prstGeom prst="roundRect">
            <a:avLst>
              <a:gd name="adj" fmla="val 12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98264" y="2706624"/>
            <a:ext cx="38862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9703" y="278892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🖥️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73752" y="279806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Approval dashboard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73752" y="3072384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FastAPI, WebSocket, 4 tabs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39327" y="2706624"/>
            <a:ext cx="3886200" cy="658368"/>
          </a:xfrm>
          <a:prstGeom prst="roundRect">
            <a:avLst>
              <a:gd name="adj" fmla="val 12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339327" y="2706624"/>
            <a:ext cx="3886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30767" y="278892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14815" y="279806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Real-time WebSocket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14815" y="3072384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Instant push, 20s keep-alive ping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3419856"/>
            <a:ext cx="3886200" cy="658368"/>
          </a:xfrm>
          <a:prstGeom prst="roundRect">
            <a:avLst>
              <a:gd name="adj" fmla="val 12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3419856"/>
            <a:ext cx="38862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3502151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💾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" y="351129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ChromaDB memory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2688" y="3785615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Vector prefs + approval history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98264" y="3419856"/>
            <a:ext cx="3886200" cy="658368"/>
          </a:xfrm>
          <a:prstGeom prst="roundRect">
            <a:avLst>
              <a:gd name="adj" fmla="val 12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398264" y="3419856"/>
            <a:ext cx="3886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89703" y="3502151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73752" y="351129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Decision scoring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73752" y="3785615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base × urgency × history formula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39327" y="3419856"/>
            <a:ext cx="3886200" cy="658368"/>
          </a:xfrm>
          <a:prstGeom prst="roundRect">
            <a:avLst>
              <a:gd name="adj" fmla="val 12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339327" y="3419856"/>
            <a:ext cx="3886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30767" y="3502151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🔧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14815" y="351129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MCP protocol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14815" y="3785615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6 tools, SSE JSON-RPC, swappable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4133087"/>
            <a:ext cx="3886200" cy="658368"/>
          </a:xfrm>
          <a:prstGeom prst="roundRect">
            <a:avLst>
              <a:gd name="adj" fmla="val 12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57200" y="4133087"/>
            <a:ext cx="388620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4215383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🗂️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2688" y="42245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Filesystem assistant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2688" y="449884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Sandboxed list + move, path guard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398264" y="4133087"/>
            <a:ext cx="3886200" cy="658368"/>
          </a:xfrm>
          <a:prstGeom prst="roundRect">
            <a:avLst>
              <a:gd name="adj" fmla="val 12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398264" y="4133087"/>
            <a:ext cx="38862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489703" y="4215383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💉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73752" y="42245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Inject Event demo mode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73752" y="449884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No OAuth needed for live demos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339327" y="4133087"/>
            <a:ext cx="3886200" cy="658368"/>
          </a:xfrm>
          <a:prstGeom prst="roundRect">
            <a:avLst>
              <a:gd name="adj" fmla="val 12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339327" y="4133087"/>
            <a:ext cx="38862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30767" y="4215383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🧪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814815" y="42245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33 automated tests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814815" y="449884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18 unit + 15 integration, all pass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4846320"/>
            <a:ext cx="3886200" cy="658368"/>
          </a:xfrm>
          <a:prstGeom prst="roundRect">
            <a:avLst>
              <a:gd name="adj" fmla="val 12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57200" y="4846320"/>
            <a:ext cx="388620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8640" y="492861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🌙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2688" y="49377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Light/Dark theme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2688" y="5212080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CSS vars, persisted localStorage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398264" y="4846320"/>
            <a:ext cx="3886200" cy="658368"/>
          </a:xfrm>
          <a:prstGeom prst="roundRect">
            <a:avLst>
              <a:gd name="adj" fmla="val 12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398264" y="4846320"/>
            <a:ext cx="388620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489703" y="492861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📝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873752" y="49377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Structlog + JSON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873752" y="5212080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Colorized console + file logging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339327" y="4846320"/>
            <a:ext cx="3886200" cy="658368"/>
          </a:xfrm>
          <a:prstGeom prst="roundRect">
            <a:avLst>
              <a:gd name="adj" fmla="val 12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339327" y="4846320"/>
            <a:ext cx="388620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430767" y="492861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🛡️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814815" y="49377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Graceful shutdown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14815" y="5212080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Clean MCP SSE close, no leak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40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WHY WE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makes this different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611880" cy="2029968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36118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</a:rPr>
              <a:t>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1472184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Voice is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92807"/>
            <a:ext cx="3337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Not a mockup. Not a simulation.
The phone rings. You answer. You speak.
The email arrives. Confirmed on a real Gmail inbox.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9976" y="1325880"/>
            <a:ext cx="3611880" cy="2029968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9976" y="1325880"/>
            <a:ext cx="36118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14630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</a:rPr>
              <a:t>🏗️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38344" y="1472184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Production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1892807"/>
            <a:ext cx="3337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33 passing tests. Structured logging.
Retry logic with exponential backoff.
Pre-flight checker. Graceful shutdown.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57032" y="1325880"/>
            <a:ext cx="3611880" cy="2029968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57032" y="1325880"/>
            <a:ext cx="36118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4630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</a:rPr>
              <a:t>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1472184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Real integrations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1892807"/>
            <a:ext cx="3337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Live Gmail API. Live Google Calendar.
Live Twilio. Authenticated OAuth2.
Not mock data — real emails flowing.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611880"/>
            <a:ext cx="3611880" cy="2029968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611880"/>
            <a:ext cx="36118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49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</a:rPr>
              <a:t>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" y="3758184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Self-improving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178808"/>
            <a:ext cx="3337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ChromaDB records every approval.
Future confidence adjusts from history.
Gets smarter with every interaction.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79976" y="3611880"/>
            <a:ext cx="3611880" cy="2029968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79976" y="3611880"/>
            <a:ext cx="361188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7136" y="3749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</a:rPr>
              <a:t>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38344" y="3758184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Industry-standard MCP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17136" y="4178808"/>
            <a:ext cx="3337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Same protocol Anthropic built into Claude.
Agents are fully decoupled from APIs.
Swap any tool without touching agents.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57032" y="3611880"/>
            <a:ext cx="3611880" cy="2029968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57032" y="3611880"/>
            <a:ext cx="361188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94192" y="3749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</a:rPr>
              <a:t>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3758184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Novel UX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4178808"/>
            <a:ext cx="3337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AI monitors → reasons → calls you → listens → acts.
No app to open. No button to press.
Your phone IS the interface.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82296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75569"/>
                </a:solidFill>
              </a:rPr>
              <a:t>SOLARIS X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417320"/>
            <a:ext cx="121889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A78BFA"/>
                </a:solidFill>
              </a:rPr>
              <a:t>PersonalOS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50" b="0" i="1">
                <a:solidFill>
                  <a:srgbClr val="94A3B8"/>
                </a:solidFill>
              </a:rPr>
              <a:t>"An autonomous AI that monitors your inbox, reasons about what needs to happen,
calls your phone to ask — and when you say  'reply that I'll submit it by evening' —
it sends the email with those exact words."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56616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No app.  No buttons.  Just talk.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297680"/>
            <a:ext cx="1691640" cy="1143000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891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A78BFA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956048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75569"/>
                </a:solidFill>
              </a:rPr>
              <a:t>Autonomous
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87168" y="4297680"/>
            <a:ext cx="1691640" cy="1143000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87168" y="43891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3B82F6"/>
                </a:solidFill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4956048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75569"/>
                </a:solidFill>
              </a:rPr>
              <a:t>MCP
Tools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8536" y="4297680"/>
            <a:ext cx="1691640" cy="1143000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8536" y="43891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0B981"/>
                </a:solidFill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8536" y="4956048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75569"/>
                </a:solidFill>
              </a:rPr>
              <a:t>Meeting
Scenarios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9903" y="4297680"/>
            <a:ext cx="1691640" cy="1143000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9903" y="43891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59E0B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9903" y="4956048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75569"/>
                </a:solidFill>
              </a:rPr>
              <a:t>Voice
Intents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91271" y="4297680"/>
            <a:ext cx="1691640" cy="1143000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1271" y="43891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F4444"/>
                </a:solidFill>
              </a:rPr>
              <a:t>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1" y="4956048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75569"/>
                </a:solidFill>
              </a:rPr>
              <a:t>Tests
Passing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640" y="4297680"/>
            <a:ext cx="1691640" cy="1143000"/>
          </a:xfrm>
          <a:prstGeom prst="roundRect">
            <a:avLst>
              <a:gd name="adj" fmla="val 15000"/>
            </a:avLst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43891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A78BFA"/>
                </a:solidFill>
              </a:rPr>
              <a:t>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4956048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75569"/>
                </a:solidFill>
              </a:rPr>
              <a:t>Possibilities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0" y="571500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</a:rPr>
              <a:t>Built with Python · FastAPI · Redis · ChromaDB · MCP · Twilio · Gmail API · Google Calendar API · OpenRouter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6144768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78BFA"/>
                </a:solidFill>
              </a:rPr>
              <a:t>🏆  Thank you — let's change how people manage their digital lives.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